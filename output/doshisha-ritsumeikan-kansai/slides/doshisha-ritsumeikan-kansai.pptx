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0"/>
            <a:ext cx="8229600" cy="5143500"/>
          </a:xfrm>
          <a:prstGeom prst="rect">
            <a:avLst/>
          </a:prstGeom>
          <a:noFill/>
          <a:ln/>
        </p:spPr>
        <p:txBody>
          <a:bodyPr wrap="square" lIns="0" tIns="0" rIns="0" bIns="0" rtlCol="0" anchor="ctr"/>
          <a:lstStyle/>
          <a:p>
            <a:pPr algn="ctr" indent="0" marL="0">
              <a:buNone/>
            </a:pPr>
            <a:r>
              <a:rPr lang="en-US" sz="4000" b="1" dirty="0">
                <a:solidFill>
                  <a:srgbClr val="DC2626"/>
                </a:solidFill>
                <a:latin typeface="Noto Sans JP" pitchFamily="34" charset="0"/>
                <a:ea typeface="Noto Sans JP" pitchFamily="34" charset="-122"/>
                <a:cs typeface="Noto Sans JP" pitchFamily="34" charset="-120"/>
              </a:rPr>
              <a:t>同志社大学・立命館大学・関西大学 一般選抜 比較調査レポート</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1）</a:t>
            </a:r>
            <a:endParaRPr lang="en-US" sz="2400" dirty="0"/>
          </a:p>
        </p:txBody>
      </p:sp>
      <p:sp>
        <p:nvSpPr>
          <p:cNvPr id="3" name="Text 1"/>
          <p:cNvSpPr/>
          <p:nvPr/>
        </p:nvSpPr>
        <p:spPr>
          <a:xfrm>
            <a:off x="457200" y="1280160"/>
            <a:ext cx="8229600" cy="356616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同志社大学・立命館大学・関西大学はいずれも関西の難関私立大学として一般選抜を軸に多数の受験生を集めていますが、2025→2026年度にかけての制度変更の「量」と「性質」には明確な差があります。同志社は数学B出題範囲への「統計的な推測」追加という出題範囲アップデートが中心で、方式体系そのものは全学部日程・学部個別日程の2本柱を安定的に維持しています。立命館は「情報Ⅰ」を課す新方式（学部個別配点方式・情報型文系／情報型理系）を経営・総合心理・食マネジメント・スポーツ健康科学・情報理工・映像の各学部で新設し、理工学部機械工学科を2コース制に再編するなど、既存の5方式体系（全学統一・学部個別配点・共通テスト・共通テスト併用・後期分割）に新しい選択肢を積み増す動きが目立ちます。関西大学は3校の中で変更が最も多岐にわたり、外国語学部の定員増・共通テスト利用科目再編、商学部の新配点方式追加、システム理工学部のグリーンエレクトロニクス工学科新設、環境都市工学部の女子特別入試導入、文学部の16→12専修再編と、組織改編を伴う変更が集中していま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2）</a:t>
            </a:r>
            <a:endParaRPr lang="en-US" sz="2400" dirty="0"/>
          </a:p>
        </p:txBody>
      </p:sp>
      <p:sp>
        <p:nvSpPr>
          <p:cNvPr id="3" name="Text 1"/>
          <p:cNvSpPr/>
          <p:nvPr/>
        </p:nvSpPr>
        <p:spPr>
          <a:xfrm>
            <a:off x="457200" y="1280160"/>
            <a:ext cx="8229600" cy="10572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3校に共通する骨格（日程区分・方式区分そのもの）は2025→2026で維持されており、受験生にとっては「土台は安定、その上での選択肢拡充・出題範囲調整」という位置づけで捉えるのが実務的です。</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3）</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12794"/>
                <a:gridCol w="2223963"/>
                <a:gridCol w="3315612"/>
                <a:gridCol w="2377231"/>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一般選抜の方式体系の特徴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2025→2026の最大の変化点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進路指導者が押さえるべき要点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全学部日程（文理で試験日分離）＋学部個別日程の2本柱、記述式（論述）中心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数学B出題範囲に「統計的な推測」追加（対象4学部の一般選抜全体に適用）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制度は安定運用。出題範囲の変更点のみ要対応</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全学統一／学部個別配点／共通テスト／共通テスト併用／後期分割の5方式体系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「情報Ⅰ」を課す新方式（情報型文系・情報型理系）を6学部で新設。理工学部機械工学科を2コース制に再編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既存方式の廃止ではなく併存追加。情報科目の得意・不得意で方式選択の幅が広がる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4）</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12794"/>
                <a:gridCol w="2223963"/>
                <a:gridCol w="3315612"/>
                <a:gridCol w="2377231"/>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一般選抜の方式体系の特徴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2025→2026の最大の変化点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進路指導者が押さえるべき要点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全学日程1／学部独自日程／全学日程2＋共通テスト利用（前期・併用・後期）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外国語学部定員増、商学部新方式、システム理工新学科新設、環境都市工女子特別入試導入、文学部専修再編と多面的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3校中もっとも変更が多岐。新学科・定員再配分による実質倍率変動に注意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4" name="Text 1"/>
          <p:cNvSpPr/>
          <p:nvPr/>
        </p:nvSpPr>
        <p:spPr>
          <a:xfrm>
            <a:off x="457200" y="3261360"/>
            <a:ext cx="8229600" cy="647700"/>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留意点：</a:t>
            </a:r>
            <a:pPr indent="0" marL="0">
              <a:buNone/>
            </a:pPr>
            <a:r>
              <a:rPr lang="en-US" sz="1800" dirty="0">
                <a:solidFill>
                  <a:srgbClr val="111827"/>
                </a:solidFill>
                <a:latin typeface="Noto Sans JP" pitchFamily="34" charset="0"/>
                <a:ea typeface="Noto Sans JP" pitchFamily="34" charset="-122"/>
                <a:cs typeface="Noto Sans JP" pitchFamily="34" charset="-120"/>
              </a:rPr>
              <a:t> 各大学の変更点の詳細な性質（出題範囲調整型／方式追加型／組織改編型）の違いは、後述の「入試制度の変更点」セクションで詳述します。</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a:t>
            </a:r>
            <a:endParaRPr lang="en-US" sz="24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3校とも一般選抜の骨格は「複数日程・複数方式による併願機会の提供」という点で共通していますが、方式の複雑さ・試験会場網の広さには差があります。</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1）</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4384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主要日程・方式区分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全学部日程（文系／理系で試験日分離）、学部個別日程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全学統一方式、学部個別配点方式、共通テスト方式、共通テスト併用方式、後期分割方式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全学日程1、学部独自日程、全学日程2（以上が一般入試）＋共通テスト利用（前期・併用・後期）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2）</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9240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出題形式の特徴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記述式（論述式）中心。マークシート方式ではない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学部・方式により配点差の大きい独自試験</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学部・学科・方式ごとに配点パターンが細分化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3）</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9240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2026年度試験日程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全学部日程：文系2/5・理系2/4／学部個別日程：法2/8・経済2/6・商2/9・理工2/10</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2月実施分：2/1〜2/4、2/7〜2/9（計7日間）／後期分割方式：3/7</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全学日程1：2/1〜2/3／学部独自日程：2/4（一部学部）／全学日程2：2/5〜2/7（文系学部群は計6日間、システム理工・環境都市工等の理系学部群は計3日間）</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4）</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1812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試験会場の広がり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全学日程1・学部独自日程＝全国14都市、全学日程2＝全国29都市（2025・2026年度で同一）</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5）</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出願方式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インターネット出願（Web出願）。出願期間内であればいつでも出願可能</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6）</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1812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併願ルールの特徴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同一実施日内での全学部日程・学部個別日程の併願は不可。出願後の試験日・志望学部学科・試験地の変更は一切不可</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5方式は基本的に併願可能（試験日が異なれば複数回受験できる設計）</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全学日程2と共通テスト利用「併用」は同一日実施のため同時併願が可能。共通テスト利用「後期」は2月入試の合格発表後に出願可能</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7）</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0851"/>
                <a:gridCol w="2472612"/>
                <a:gridCol w="1866122"/>
                <a:gridCol w="338001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同志社大学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立命館大学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関西大学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4384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2025→2026での骨格変更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なし（運用ルールは両年度共通）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なし（大枠は共通。個別方式の新設・廃止は「入試制度の変更点」参照）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なし（日程区分・試験会場数とも2025・2026年度で同一）</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8）</a:t>
            </a:r>
            <a:endParaRPr lang="en-US" sz="2400" dirty="0"/>
          </a:p>
        </p:txBody>
      </p:sp>
      <p:sp>
        <p:nvSpPr>
          <p:cNvPr id="3" name="Text 1"/>
          <p:cNvSpPr/>
          <p:nvPr/>
        </p:nvSpPr>
        <p:spPr>
          <a:xfrm>
            <a:off x="457200" y="1280160"/>
            <a:ext cx="8229600" cy="1381125"/>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大学間の情報量の差についての注記：</a:t>
            </a:r>
            <a:pPr indent="0" marL="0">
              <a:buNone/>
            </a:pPr>
            <a:r>
              <a:rPr lang="en-US" sz="1800" dirty="0">
                <a:solidFill>
                  <a:srgbClr val="111827"/>
                </a:solidFill>
                <a:latin typeface="Noto Sans JP" pitchFamily="34" charset="0"/>
                <a:ea typeface="Noto Sans JP" pitchFamily="34" charset="-122"/>
                <a:cs typeface="Noto Sans JP" pitchFamily="34" charset="-120"/>
              </a:rPr>
              <a:t> 試験会場数・出願方式の詳細は関西大学のみ一次情報に近い形で確認でき、同志社大学・立命館大学については今回の調査で確認できませんでした。3校を数値で厳密比較する際は、この情報量の差を踏まえたうえで再調査することを推奨します。</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入試方式の全体像（続き 9）</a:t>
            </a:r>
            <a:endParaRPr lang="en-US" sz="2400" dirty="0"/>
          </a:p>
        </p:txBody>
      </p:sp>
      <p:sp>
        <p:nvSpPr>
          <p:cNvPr id="3" name="Text 1"/>
          <p:cNvSpPr/>
          <p:nvPr/>
        </p:nvSpPr>
        <p:spPr>
          <a:xfrm>
            <a:off x="457200" y="1280160"/>
            <a:ext cx="8229600" cy="25622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各大学の方式の役割分担を補足すると、同志社大学は全学部日程と学部個別日程という2本柱のシンプルな構成で、共通テストを利用する入学試験は個別学力検査とは別の「参考」的な位置づけです。立命館大学は全学統一方式が広域併願、学部個別配点方式が学部特化、共通テスト方式が多パターン対応、共通テスト併用方式がハイブリッド型、後期分割方式が滑り止め的な役割を担う多層構造になっています。関西大学は一般入試（全学日程1・学部独自日程・全学日程2）と共通テスト利用入試（前期・併用・後期）を明確に分け、学部群によって試験日数が文系6日間・理系3日間と異なる点が特徴です。</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学部・学科別 入試詳細</a:t>
            </a:r>
            <a:endParaRPr lang="en-US" sz="24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学部単位で大学ごとに縦並びにするのではなく、系統が近い学部群（法学系・商学/経営系・その他文系・理工系）で3校を横断的に比較します。</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法学系学部の比較</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793852"/>
                <a:gridCol w="2963714"/>
                <a:gridCol w="2275709"/>
                <a:gridCol w="219632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9240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同志社・法学部（法律学科／政治学科）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学部個別日程／全学部日程（文系）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500点満点中、英語200点・国語150点・地歴/公民/数学から1科目150点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英語に基準点（80点未満は不合格）。募集人員は法律学科380名・政治学科104名（2025・2026年度とも同数）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法学系学部の比較（続き 1）</a:t>
            </a:r>
            <a:endParaRPr lang="en-US" sz="2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793852"/>
                <a:gridCol w="2963714"/>
                <a:gridCol w="2275709"/>
                <a:gridCol w="219632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立命館・法学部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全学統一方式（文系）／学部個別配点方式（文系）／共通テスト方式（7科目型・5教科型・3教科型・4教科型）／共通テスト併用方式／後期分割方式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320点満点（全学統一方式）〜400点満点（学部個別配点方式）。共通テスト方式は600点満点〜900点満点と幅広い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一般選抜の方式別募集人員内訳は（情報なし・未確認）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関西・法学部（法学政治学科）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3教科型／2教科型（英語外部検定利用）／3教科型同一配点方式／共通テスト利用（前期3・4・6科目型、併用英語型・小論文型、後期）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280点満点（2教科型）〜450点満点（3教科型・3教科型同一配点方式）。共通テスト利用は300点満点〜800点満点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2025→2026で科目・配点・方式レベルの変更は確認されず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商学・経営系学部の比較</a:t>
            </a:r>
            <a:endParaRPr lang="en-US" sz="2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73713"/>
                <a:gridCol w="2509686"/>
                <a:gridCol w="2073321"/>
                <a:gridCol w="237288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同志社・商学部（商学総合コース／フレックス複合コース）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学部個別日程／全学部日程（文系）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500点満点中、英語200点・国語150点・選択科目150点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募集人員：商学総合コース344名、フレックス複合コース75名（2025・2026年度とも同数）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立命館・経営学部（経営学科）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全学統一方式／学部個別配点方式／学部個別配点方式（情報型文系・2026年度新設）／後期分割方式／共通テスト方式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320点満点（全学統一）〜370点満点（学部個別配点、情報型も同額）。後期分割方式は220点満点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情報型文系は国語・英語に加え本学独自試験「情報」（出題範囲：情報Ⅰ、150点、試験時間80分）を課す新方式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商学・経営系学部の比較（続き 1）</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273713"/>
                <a:gridCol w="2509686"/>
                <a:gridCol w="2073321"/>
                <a:gridCol w="237288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立命館・経営学部（国際経営学科）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学部個別配点方式／後期分割方式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400点満点（学部個別配点）、220点満点（後期分割）</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共通テスト方式「併用情報活用型」は2026年度に廃止（詳細は変更点セクション参照）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関西・商学部（商学科）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3教科型／3教科型同一配点方式（2026年度新設）／共通テスト利用前期／共通テスト併用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450点満点（3教科型・同一配点方式）、600点満点（前期）、300点＋200点＝500点（併用）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共通テスト併用方式は2026年度に選択科目再編・個別試験を英語のみに縮小（詳細は変更点セクション参照）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その他文系学部の比較（経済・国際関係・文学部）</a:t>
            </a:r>
            <a:endParaRPr lang="en-US" sz="2000" dirty="0"/>
          </a:p>
        </p:txBody>
      </p:sp>
      <p:sp>
        <p:nvSpPr>
          <p:cNvPr id="3" name="Text 1"/>
          <p:cNvSpPr/>
          <p:nvPr/>
        </p:nvSpPr>
        <p:spPr>
          <a:xfrm>
            <a:off x="457200" y="1280160"/>
            <a:ext cx="8229600" cy="3238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学部の性質が完全には一致しないため、参考的な横並びとして扱います。</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その他文系学部の比較（経済・国際関係・文学部）（続き 1）</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01134"/>
                <a:gridCol w="1776143"/>
                <a:gridCol w="2151152"/>
                <a:gridCol w="2901171"/>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同志社・経済学部（経済学科）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学部個別日程／全学部日程（文系）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500点満点中、英語200点・国語150点・地歴/公民/数学から1科目150点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募集人員：経済学科510名（2025・2026年度とも同数）。英語に基準点あり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立命館・国際関係学部（国際関係学専攻／グローバル・スタディーズ専攻）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全学統一方式（文系）／学部個別配点方式（文系）／IR方式（英語資格活用型）／後期分割方式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350点満点（全学統一）、300点満点（学部個別配点・IR方式）、220点満点（後期分割）</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アメリカン大学・立命館大学国際連携学科は一般選抜での募集なし（総合型選抜のみ）のため対象外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その他文系学部の比較（経済・国際関係・文学部）（続き 2）</a:t>
            </a:r>
            <a:endParaRPr lang="en-US" sz="2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01134"/>
                <a:gridCol w="1776143"/>
                <a:gridCol w="2151152"/>
                <a:gridCol w="2901171"/>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関西・文学部（総合人文学科）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前期2科目（共通テスト方式）／3教科方式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200点＋200点＝400点（前期2科目）、350点程度（3教科方式：英語200点・国語150点・数学/地歴公民から100点）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学部内16専修が2026年度から12専修に再編されるが、募集単位は学科（総合人文学科）のまま。専修再編が一般選抜の科目・配点に与える影響は確認されず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理工系学部の比較</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49052"/>
                <a:gridCol w="1899432"/>
                <a:gridCol w="2636297"/>
                <a:gridCol w="3044818"/>
              </a:tblGrid>
              <a:tr h="89535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9240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同志社・理工学部（全10学科）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全学部日程（英・数・理総合型）／学部個別日程（数・理重視型）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550点満点（英語200・数学200・理科150、全学部日程）、450点満点（英語100・数学200・理科150、学部個別日程）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学科別募集人員は下表参照。理科科目は学科により物理必須・選択科目の指定が異なる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理工系学部の比較（続き 1）</a:t>
            </a:r>
            <a:endParaRPr lang="en-US" sz="2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49052"/>
                <a:gridCol w="1899432"/>
                <a:gridCol w="2636297"/>
                <a:gridCol w="3044818"/>
              </a:tblGrid>
              <a:tr h="89535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立命館・情報理工学部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全学統一方式（理系）／学部個別配点方式（理科1科目型）／学部個別配点方式（情報型理系・2026年度新設）</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300点満点（全学統一）、400点満点（学部個別配点・理科1科目型）、情報型理系は配点内訳未確定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情報型理系の正確な配点は複数ソースで不一致があり確度に留保あり（未確認）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理工系学部の比較（続き 2）</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49052"/>
                <a:gridCol w="1899432"/>
                <a:gridCol w="2636297"/>
                <a:gridCol w="3044818"/>
              </a:tblGrid>
              <a:tr h="89535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4384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立命館・理工学部（機械工学科中心）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全学統一方式（理系）／学部個別配点方式（理科1科目型・理科2科目型）／共通テスト併用方式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300点満点（全学統一）、400点満点（理科1科目型）、450点満点（理科2科目型）。共通テスト併用方式（数学重視型・情報理系型）の詳細配点は未確認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2026年度より機械工学科は「機械創成工学コース」（定員87名）「機械情報工学コース」（定員86名）の2コース制に再編（学科定員173名）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理工系学部の比較（続き 3）</a:t>
            </a:r>
            <a:endParaRPr lang="en-US" sz="2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49052"/>
                <a:gridCol w="1899432"/>
                <a:gridCol w="2636297"/>
                <a:gridCol w="3044818"/>
              </a:tblGrid>
              <a:tr h="89535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関西・システム理工学部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3教科型理科1科目選択方式／3教科型理科設問選択方式（2科目型・理数重視）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いずれも550点満点（数学200〜225点・理科150〜225点・英語100〜200点の配分違い）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共通テスト利用入試（前期・併用・後期）の学科別詳細配点は未確認。2026年度にグリーンエレクトロニクス工学科を新設（定員62名）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理工系学部の比較（続き 4）</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649052"/>
                <a:gridCol w="1899432"/>
                <a:gridCol w="2636297"/>
                <a:gridCol w="3044818"/>
              </a:tblGrid>
              <a:tr h="89535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大学・学部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代表的な方式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配点構成（満点）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備考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6668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関西・環境都市工学部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3教科型理科1科目選択方式／3教科型理科設問選択方式（2科目型・理数重視）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いずれも550点満点（配点配分はシステム理工学部と同様の設計）</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共通テスト利用入試の学科別詳細配点は未確認。エネルギー環境・化学工学科で2026年度から女子特別入学試験を新規実施（定員5名、一般選抜募集人員への直接影響は未確認）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a:t>
            </a:r>
            <a:endParaRPr lang="en-US" sz="20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全学部日程（理系、2/4実施）「英・数・理総合型」（両年度とも550点満点：英語200・数学200・理科150）</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1）</a:t>
            </a:r>
            <a:endParaRPr lang="en-US" sz="2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212000"/>
                <a:gridCol w="2008800"/>
                <a:gridCol w="200880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2026募集人員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機械システム工学科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電気工学科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29名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電子工学科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29名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31名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機械理工学科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インテリジェント情報工学科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情報システムデザイン学科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機能分子・生命化学科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化学システム創成工学科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2）</a:t>
            </a:r>
            <a:endParaRPr lang="en-US" sz="2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212000"/>
                <a:gridCol w="2008800"/>
                <a:gridCol w="200880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2026募集人員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環境システム学科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数理システム学科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11名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11名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
        <p:nvSpPr>
          <p:cNvPr id="4" name="Text 1"/>
          <p:cNvSpPr/>
          <p:nvPr/>
        </p:nvSpPr>
        <p:spPr>
          <a:xfrm>
            <a:off x="457200" y="2613660"/>
            <a:ext cx="8229600" cy="647700"/>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学部個別日程（2/10実施）「数・理重視型」（両年度とも450点満点：英語100・数学200・理科150）</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3）</a:t>
            </a:r>
            <a:endParaRPr lang="en-US" sz="2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212000"/>
                <a:gridCol w="2008800"/>
                <a:gridCol w="200880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2026募集人員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機械システム工学科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32名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32名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電気工学科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26名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電子工学科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29名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28名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機械理工学科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インテリジェント情報工学科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情報システムデザイン学科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機能分子・生命化学科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化学システム創成工学科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4）</a:t>
            </a:r>
            <a:endParaRPr lang="en-US" sz="2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212000"/>
                <a:gridCol w="2008800"/>
                <a:gridCol w="2008800"/>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2025募集人員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2026募集人員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環境システム学科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17名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3810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数理システム学科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13名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5）</a:t>
            </a:r>
            <a:endParaRPr lang="en-US" sz="2000" dirty="0"/>
          </a:p>
        </p:txBody>
      </p:sp>
      <p:sp>
        <p:nvSpPr>
          <p:cNvPr id="3" name="Text 1"/>
          <p:cNvSpPr/>
          <p:nvPr/>
        </p:nvSpPr>
        <p:spPr>
          <a:xfrm>
            <a:off x="457200" y="1280160"/>
            <a:ext cx="8229600" cy="34004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電気工学科・電子工学科では2025→2026にかけて募集人員が数名単位（±1〜2名程度）で増減していますが、試験科目・配点・方式自体の変更ではなく、通常の年次調整とみられます。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立命館大学・関西大学については、学科別・方式別の一般選抜募集人員の詳細な内訳データが今回の調査では確認できませんでした。</a:t>
            </a:r>
            <a:pPr indent="0" marL="0">
              <a:buNone/>
            </a:pPr>
            <a:r>
              <a:rPr lang="en-US" sz="1800" dirty="0">
                <a:solidFill>
                  <a:srgbClr val="111827"/>
                </a:solidFill>
                <a:latin typeface="Noto Sans JP" pitchFamily="34" charset="0"/>
                <a:ea typeface="Noto Sans JP" pitchFamily="34" charset="-122"/>
                <a:cs typeface="Noto Sans JP" pitchFamily="34" charset="-120"/>
              </a:rPr>
              <a:t> 確認できたのは入学定員全体の増減（立命館：総合心理学部280→310名、理工学部数理科学科データサイエンスコース52→72名、理工学部電気電子工学科154→134名／関西：外国語学部165→185名、システム理工学部電気電子情報工学科182→170名）にとどまり、これらが一般選抜の募集人員にどう反映されるかは「情報なし」として扱います。</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6）</a:t>
            </a:r>
            <a:endParaRPr lang="en-US" sz="2000" dirty="0"/>
          </a:p>
        </p:txBody>
      </p:sp>
      <p:sp>
        <p:nvSpPr>
          <p:cNvPr id="3" name="Text 1"/>
          <p:cNvSpPr/>
          <p:nvPr/>
        </p:nvSpPr>
        <p:spPr>
          <a:xfrm>
            <a:off x="457200" y="1280160"/>
            <a:ext cx="8229600" cy="3562350"/>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本セクションの主な不足情報：</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立命館：情報理工学部・映像学部「情報型理系」方式の正確な配点内訳（複数ソースで不一致）</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立命館：法学部・国際関係学部・情報理工学部・理工学部の一般選抜募集人員（方式別内訳）</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立命館：理工学部・情報理工学部の共通テスト併用方式（情報理系型等）の詳細配点</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関西：システム理工学部・環境都市工学部の共通テスト利用入試（前期・併用・後期）の学科別詳細配点</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関西：2025年度時点（変更前）の各学部個別学力試験の配点表は一次情報で直接確認できず、「変更の言及なし＝変更なし」という推定に基づく</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学部・学科別 入試詳細 — 同志社大学 理工学部：学科別募集人員（唯一、学科別の詳細な経年データが確認できた大学）（続き 7）</a:t>
            </a:r>
            <a:endParaRPr lang="en-US" sz="20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同志社：大学入学共通テストを利用する入学試験の学部別配点内訳（確度に留保あり、要再確認）</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入試制度の変更点（経年比較）</a:t>
            </a:r>
            <a:endParaRPr lang="en-US" sz="2400" dirty="0"/>
          </a:p>
        </p:txBody>
      </p:sp>
      <p:sp>
        <p:nvSpPr>
          <p:cNvPr id="3" name="Text 1"/>
          <p:cNvSpPr/>
          <p:nvPr/>
        </p:nvSpPr>
        <p:spPr>
          <a:xfrm>
            <a:off x="457200" y="1280160"/>
            <a:ext cx="8229600" cy="16002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3校の変更の性質を比較すると、同志社は出題範囲の微調整が中心、立命館は新方式（情報活用型）の追加とコース再編、関西は新学科設立・定員再配分・専修再編といった組織変更を伴う変更が最も多いという違いが見られます。とりわけ「情報」科目を課す新方式は立命館に特徴的で、同志社・関西の対象学部では確認されていません。</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同志社大学</a:t>
            </a:r>
            <a:endParaRPr lang="en-US" sz="2000" dirty="0"/>
          </a:p>
        </p:txBody>
      </p:sp>
      <p:sp>
        <p:nvSpPr>
          <p:cNvPr id="3" name="Text 1"/>
          <p:cNvSpPr/>
          <p:nvPr/>
        </p:nvSpPr>
        <p:spPr>
          <a:xfrm>
            <a:off x="457200" y="1280160"/>
            <a:ext cx="8229600" cy="32099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科目変更（2026年度）：</a:t>
            </a:r>
            <a:pPr indent="0" marL="0">
              <a:buNone/>
            </a:pPr>
            <a:r>
              <a:rPr lang="en-US" sz="1800" dirty="0">
                <a:solidFill>
                  <a:srgbClr val="111827"/>
                </a:solidFill>
                <a:latin typeface="Noto Sans JP" pitchFamily="34" charset="0"/>
                <a:ea typeface="Noto Sans JP" pitchFamily="34" charset="-122"/>
                <a:cs typeface="Noto Sans JP" pitchFamily="34" charset="-120"/>
              </a:rPr>
              <a:t> 数学Bの出題範囲に「統計的な推測」を追加（従来は「数列」のみ）。法学部・商学部・経済学部（選択科目としての数学）、理工学部（必須科目としての数学）を含む、一般選抜で数学を課す全学部に適用。なお数学C（ベクトル）は2025年度時点で既に出題範囲に含まれており、2026年度の新規追加ではありません。</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募集人員変動：</a:t>
            </a:r>
            <a:pPr indent="0" marL="0">
              <a:buNone/>
            </a:pPr>
            <a:r>
              <a:rPr lang="en-US" sz="1800" dirty="0">
                <a:solidFill>
                  <a:srgbClr val="111827"/>
                </a:solidFill>
                <a:latin typeface="Noto Sans JP" pitchFamily="34" charset="0"/>
                <a:ea typeface="Noto Sans JP" pitchFamily="34" charset="-122"/>
                <a:cs typeface="Noto Sans JP" pitchFamily="34" charset="-120"/>
              </a:rPr>
              <a:t> 理工学部の電気工学科・電子工学科で全学部日程・学部個別日程の募集人員が数名単位（±1〜2名程度）で増減。試験科目・配点・方式自体の変更ではなく、通常の年次調整とみられます。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組織的変更：</a:t>
            </a:r>
            <a:pPr indent="0" marL="0">
              <a:buNone/>
            </a:pPr>
            <a:r>
              <a:rPr lang="en-US" sz="1800" dirty="0">
                <a:solidFill>
                  <a:srgbClr val="111827"/>
                </a:solidFill>
                <a:latin typeface="Noto Sans JP" pitchFamily="34" charset="0"/>
                <a:ea typeface="Noto Sans JP" pitchFamily="34" charset="-122"/>
                <a:cs typeface="Noto Sans JP" pitchFamily="34" charset="-120"/>
              </a:rPr>
              <a:t> 対象4学部（法・商・経済・理工）について、2025→2026年度でキャンパス移転・改組・名称変更に該当する事実は確認されませんでした。</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同志社大学（続き 1）</a:t>
            </a:r>
            <a:endParaRPr lang="en-US" sz="2000" dirty="0"/>
          </a:p>
        </p:txBody>
      </p:sp>
      <p:sp>
        <p:nvSpPr>
          <p:cNvPr id="3" name="Text 1"/>
          <p:cNvSpPr/>
          <p:nvPr/>
        </p:nvSpPr>
        <p:spPr>
          <a:xfrm>
            <a:off x="457200" y="1280160"/>
            <a:ext cx="8229600" cy="9620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留保事項：</a:t>
            </a:r>
            <a:pPr indent="0" marL="0">
              <a:buNone/>
            </a:pPr>
            <a:r>
              <a:rPr lang="en-US" sz="1800" dirty="0">
                <a:solidFill>
                  <a:srgbClr val="111827"/>
                </a:solidFill>
                <a:latin typeface="Noto Sans JP" pitchFamily="34" charset="0"/>
                <a:ea typeface="Noto Sans JP" pitchFamily="34" charset="-122"/>
                <a:cs typeface="Noto Sans JP" pitchFamily="34" charset="-120"/>
              </a:rPr>
              <a:t> 理工学部の共通テスト利用方式における数学指定科目変更（「数学C必須・数学AまたはIから選択」→「数学AC必須」）は河合塾Kei-Netのみで確認されており、大学公式の一次情報では未確認です。</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立命館大学</a:t>
            </a:r>
            <a:endParaRPr lang="en-US" sz="2000" dirty="0"/>
          </a:p>
        </p:txBody>
      </p:sp>
      <p:sp>
        <p:nvSpPr>
          <p:cNvPr id="3" name="Text 1"/>
          <p:cNvSpPr/>
          <p:nvPr/>
        </p:nvSpPr>
        <p:spPr>
          <a:xfrm>
            <a:off x="457200" y="1280160"/>
            <a:ext cx="8229600" cy="29051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科目・方式の新設／廃止（2026年度）：</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経営学部（経営学科）・総合心理学部・食マネジメント学部・スポーツ健康科学部で「学部個別配点方式（情報型文系）」を新規実施（既存方式と併存、廃止ではない）。</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情報理工学部・映像学部で「学部個別配点方式（情報型理系）」を新規実施。</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経営学部（国際経営学科）：共通テスト方式「併用情報活用型」を廃止。</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スポーツ健康科学部：共通テスト方式「後期5教科型」「後期3教科型」を廃止。</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総合心理学部：共通テスト3教科型で「情報」の選択が可能に。</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立命館大学（続き 1）</a:t>
            </a:r>
            <a:endParaRPr lang="en-US" sz="2000" dirty="0"/>
          </a:p>
        </p:txBody>
      </p:sp>
      <p:sp>
        <p:nvSpPr>
          <p:cNvPr id="3" name="Text 1"/>
          <p:cNvSpPr/>
          <p:nvPr/>
        </p:nvSpPr>
        <p:spPr>
          <a:xfrm>
            <a:off x="457200" y="1280160"/>
            <a:ext cx="8229600" cy="35433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募集人員変動（入学定員ベース）：</a:t>
            </a:r>
            <a:pPr indent="0" marL="0">
              <a:buNone/>
            </a:pPr>
            <a:r>
              <a:rPr lang="en-US" sz="1800" dirty="0">
                <a:solidFill>
                  <a:srgbClr val="111827"/>
                </a:solidFill>
                <a:latin typeface="Noto Sans JP" pitchFamily="34" charset="0"/>
                <a:ea typeface="Noto Sans JP" pitchFamily="34" charset="-122"/>
                <a:cs typeface="Noto Sans JP" pitchFamily="34" charset="-120"/>
              </a:rPr>
              <a:t> 総合心理学部280名→310名、理工学部数理科学科データサイエンスコース52名→72名、理工学部電気電子工学科154名→134名。一般選抜の募集人員内訳における詳細な増減は未確認です。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組織的変更：</a:t>
            </a:r>
            <a:pPr indent="0" marL="0">
              <a:buNone/>
            </a:pPr>
            <a:r>
              <a:rPr lang="en-US" sz="1800" dirty="0">
                <a:solidFill>
                  <a:srgbClr val="111827"/>
                </a:solidFill>
                <a:latin typeface="Noto Sans JP" pitchFamily="34" charset="0"/>
                <a:ea typeface="Noto Sans JP" pitchFamily="34" charset="-122"/>
                <a:cs typeface="Noto Sans JP" pitchFamily="34" charset="-120"/>
              </a:rPr>
              <a:t> 理工学部機械工学科が「機械創成工学コース」「機械情報工学コース」の2コース制に再編（2026年度）。参考情報として、2026年度に衣笠キャンパスへ新学部「デザイン・アート学部」（入学定員180名）が新設されましたが、本調査の対象5学部には含まれません。</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変更なしと確認：</a:t>
            </a:r>
            <a:pPr indent="0" marL="0">
              <a:buNone/>
            </a:pPr>
            <a:r>
              <a:rPr lang="en-US" sz="1800" dirty="0">
                <a:solidFill>
                  <a:srgbClr val="111827"/>
                </a:solidFill>
                <a:latin typeface="Noto Sans JP" pitchFamily="34" charset="0"/>
                <a:ea typeface="Noto Sans JP" pitchFamily="34" charset="-122"/>
                <a:cs typeface="Noto Sans JP" pitchFamily="34" charset="-120"/>
              </a:rPr>
              <a:t> 法学部・国際関係学部の一般選抜は科目・配点・方式レベルで変更が確認されませんでした。</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留保事項：</a:t>
            </a:r>
            <a:pPr indent="0" marL="0">
              <a:buNone/>
            </a:pPr>
            <a:r>
              <a:rPr lang="en-US" sz="1800" dirty="0">
                <a:solidFill>
                  <a:srgbClr val="111827"/>
                </a:solidFill>
                <a:latin typeface="Noto Sans JP" pitchFamily="34" charset="0"/>
                <a:ea typeface="Noto Sans JP" pitchFamily="34" charset="-122"/>
                <a:cs typeface="Noto Sans JP" pitchFamily="34" charset="-120"/>
              </a:rPr>
              <a:t> 情報型理系方式の配点内訳、共通テスト併用方式の一部パターンの詳細配点は未確認です。</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関西大学</a:t>
            </a:r>
            <a:endParaRPr lang="en-US" sz="2000" dirty="0"/>
          </a:p>
        </p:txBody>
      </p:sp>
      <p:sp>
        <p:nvSpPr>
          <p:cNvPr id="3" name="Text 1"/>
          <p:cNvSpPr/>
          <p:nvPr/>
        </p:nvSpPr>
        <p:spPr>
          <a:xfrm>
            <a:off x="457200" y="1280160"/>
            <a:ext cx="8229600" cy="35528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科目・方式の新設／廃止（2026年度）：</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外国語学部：共通テスト利用（前期）の選択科目区分を統合・一本化し、3科目型を新規導入。</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商学部：「3教科型同一配点方式」を新設。共通テスト併用方式は選択科目に国語（現代文）を追加し、個別試験を英語のみに縮小。</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募集人員変動（入学定員ベース）：</a:t>
            </a:r>
            <a:pPr indent="0" marL="0">
              <a:buNone/>
            </a:pPr>
            <a:r>
              <a:rPr lang="en-US" sz="1800" dirty="0">
                <a:solidFill>
                  <a:srgbClr val="111827"/>
                </a:solidFill>
                <a:latin typeface="Noto Sans JP" pitchFamily="34" charset="0"/>
                <a:ea typeface="Noto Sans JP" pitchFamily="34" charset="-122"/>
                <a:cs typeface="Noto Sans JP" pitchFamily="34" charset="-120"/>
              </a:rPr>
              <a:t> 外国語学部165名→185名。システム理工学部電気電子情報工学科182名→170名（グリーンエレクトロニクス工学科新設に伴う定員再配分とみられます）。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組織的変更（新設・再編）：</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システム理工学部：グリーンエレクトロニクス工学科を新設（定員62名、2026年4月開設）。</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関西大学（続き 1）</a:t>
            </a:r>
            <a:endParaRPr lang="en-US" sz="2000" dirty="0"/>
          </a:p>
        </p:txBody>
      </p:sp>
      <p:sp>
        <p:nvSpPr>
          <p:cNvPr id="3" name="Text 1"/>
          <p:cNvSpPr/>
          <p:nvPr/>
        </p:nvSpPr>
        <p:spPr>
          <a:xfrm>
            <a:off x="457200" y="1280160"/>
            <a:ext cx="8229600" cy="29908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環境都市工学部：エネルギー環境・化学工学科で女子特別入学試験を新規実施（定員5名）。一般選抜への直接影響は未確認です。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文学部：16専修→12専修に再編（哲学専修・世界史地理学専修・表象文化専修への統合）。ただし募集単位は学科（総合人文学科）のままであり、一般選抜の募集人員・出願区分・科目への直接影響は未確認です。キャンパス移転はありません（千里山キャンパス継続）。</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変更なしと確認：</a:t>
            </a:r>
            <a:pPr indent="0" marL="0">
              <a:buNone/>
            </a:pPr>
            <a:r>
              <a:rPr lang="en-US" sz="1800" dirty="0">
                <a:solidFill>
                  <a:srgbClr val="111827"/>
                </a:solidFill>
                <a:latin typeface="Noto Sans JP" pitchFamily="34" charset="0"/>
                <a:ea typeface="Noto Sans JP" pitchFamily="34" charset="-122"/>
                <a:cs typeface="Noto Sans JP" pitchFamily="34" charset="-120"/>
              </a:rPr>
              <a:t> 法学部・社会学部・政策創造学部は変更が確認されませんでした。日程構成・試験会場数（14都市／29都市）は2025・2026年度で同一です。</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入試制度の変更点（経年比較） — 関西大学（続き 2）</a:t>
            </a:r>
            <a:endParaRPr lang="en-US" sz="2000" dirty="0"/>
          </a:p>
        </p:txBody>
      </p:sp>
      <p:sp>
        <p:nvSpPr>
          <p:cNvPr id="3" name="Text 1"/>
          <p:cNvSpPr/>
          <p:nvPr/>
        </p:nvSpPr>
        <p:spPr>
          <a:xfrm>
            <a:off x="457200" y="1280160"/>
            <a:ext cx="8229600" cy="962025"/>
          </a:xfrm>
          <a:prstGeom prst="rect">
            <a:avLst/>
          </a:prstGeom>
          <a:noFill/>
          <a:ln/>
        </p:spPr>
        <p:txBody>
          <a:bodyPr wrap="square" lIns="0" tIns="0" rIns="0" bIns="0" rtlCol="0" anchor="t"/>
          <a:lstStyle/>
          <a:p>
            <a:pPr indent="0" marL="0">
              <a:buNone/>
            </a:pPr>
            <a:r>
              <a:rPr lang="en-US" sz="1800" b="1" dirty="0">
                <a:solidFill>
                  <a:srgbClr val="111827"/>
                </a:solidFill>
                <a:latin typeface="Noto Sans JP" pitchFamily="34" charset="0"/>
                <a:ea typeface="Noto Sans JP" pitchFamily="34" charset="-122"/>
                <a:cs typeface="Noto Sans JP" pitchFamily="34" charset="-120"/>
              </a:rPr>
              <a:t>本セクションの不足情報：</a:t>
            </a:r>
            <a:pPr indent="0" marL="0">
              <a:buNone/>
            </a:pPr>
            <a:r>
              <a:rPr lang="en-US" sz="1800" dirty="0">
                <a:solidFill>
                  <a:srgbClr val="111827"/>
                </a:solidFill>
                <a:latin typeface="Noto Sans JP" pitchFamily="34" charset="0"/>
                <a:ea typeface="Noto Sans JP" pitchFamily="34" charset="-122"/>
                <a:cs typeface="Noto Sans JP" pitchFamily="34" charset="-120"/>
              </a:rPr>
              <a:t> 関西大学の「専修再編が一般選抜に与える影響」「女子特別入試が一般選抜募集人員に与える影響」は3校共通で「未確認」です。実際の影響は2026年度入試結果（倍率等）を待つ必要があります。</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受験生・進路指導への示唆</a:t>
            </a:r>
            <a:endParaRPr lang="en-US" sz="24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大学横断的な留意点：</a:t>
            </a:r>
            <a:pPr indent="0" marL="0">
              <a:buNone/>
            </a:pPr>
            <a:r>
              <a:rPr lang="en-US" sz="1800" dirty="0">
                <a:solidFill>
                  <a:srgbClr val="111827"/>
                </a:solidFill>
                <a:latin typeface="Noto Sans JP" pitchFamily="34" charset="0"/>
                <a:ea typeface="Noto Sans JP" pitchFamily="34" charset="-122"/>
                <a:cs typeface="Noto Sans JP" pitchFamily="34" charset="-120"/>
              </a:rPr>
              <a:t> 3校とも日程・方式の骨格自体は2025→2026で維持されているため、既存の過去問演習・併願戦略の多くはそのまま有効です。ただし出題範囲・新方式・定員変動といった「部分的な変更」は3校それぞれで発生しているため、志望学部・学科単位での最新の募集要項確認を出願直前まで怠らないよう指導することが重要です。また、本レポートの数値には二次情報に依存し確度が十分でない箇所が含まれるため、最終判断は必ず各大学の公式募集要項原本で行うよう案内してください。</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受験生・進路指導への示唆（続き 1）</a:t>
            </a:r>
            <a:endParaRPr lang="en-US" sz="2400" dirty="0"/>
          </a:p>
        </p:txBody>
      </p:sp>
      <p:sp>
        <p:nvSpPr>
          <p:cNvPr id="3" name="Text 1"/>
          <p:cNvSpPr/>
          <p:nvPr/>
        </p:nvSpPr>
        <p:spPr>
          <a:xfrm>
            <a:off x="457200" y="1280160"/>
            <a:ext cx="8229600" cy="35242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同志社大学：</a:t>
            </a:r>
            <a:pPr indent="0" marL="0">
              <a:buNone/>
            </a:pPr>
            <a:r>
              <a:rPr lang="en-US" sz="1800" dirty="0">
                <a:solidFill>
                  <a:srgbClr val="111827"/>
                </a:solidFill>
                <a:latin typeface="Noto Sans JP" pitchFamily="34" charset="0"/>
                <a:ea typeface="Noto Sans JP" pitchFamily="34" charset="-122"/>
                <a:cs typeface="Noto Sans JP" pitchFamily="34" charset="-120"/>
              </a:rPr>
              <a:t> 2026年度受験生は数学B「統計的な推測」の対策が必須で、従来の「数列」中心の過去問対策だけでは不十分になる可能性があります。理工学部志望者は、英語比重が高い全学部日程（英・数・理総合型）と数理重視の学部個別日程（数・理重視型）で配点傾向が異なるため、得意科目に応じた出願戦略の検討が有効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立命館大学：</a:t>
            </a:r>
            <a:pPr indent="0" marL="0">
              <a:buNone/>
            </a:pPr>
            <a:r>
              <a:rPr lang="en-US" sz="1800" dirty="0">
                <a:solidFill>
                  <a:srgbClr val="111827"/>
                </a:solidFill>
                <a:latin typeface="Noto Sans JP" pitchFamily="34" charset="0"/>
                <a:ea typeface="Noto Sans JP" pitchFamily="34" charset="-122"/>
                <a:cs typeface="Noto Sans JP" pitchFamily="34" charset="-120"/>
              </a:rPr>
              <a:t> 「情報Ⅰ」を得意とする受験生には、経営・総合心理・食マネジメント・スポーツ健康科学・情報理工・映像の各学部で新設された情報型方式が有力な選択肢になり得ます。理工学部機械工学科志望者は、2026年度からのコース制再編（機械創成工学／機械情報工学）を踏まえたコース選択の事前検討が必要です。一次情報アクセスに制約があった箇所が多いため、最終的な出願判断は必ず募集要項原本で確認するよう案内すべきです。</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受験生・進路指導への示唆（続き 2）</a:t>
            </a:r>
            <a:endParaRPr lang="en-US" sz="2400" dirty="0"/>
          </a:p>
        </p:txBody>
      </p:sp>
      <p:sp>
        <p:nvSpPr>
          <p:cNvPr id="3" name="Text 1"/>
          <p:cNvSpPr/>
          <p:nvPr/>
        </p:nvSpPr>
        <p:spPr>
          <a:xfrm>
            <a:off x="457200" y="1280160"/>
            <a:ext cx="8229600" cy="28860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関西大学：</a:t>
            </a:r>
            <a:pPr indent="0" marL="0">
              <a:buNone/>
            </a:pPr>
            <a:r>
              <a:rPr lang="en-US" sz="1800" dirty="0">
                <a:solidFill>
                  <a:srgbClr val="111827"/>
                </a:solidFill>
                <a:latin typeface="Noto Sans JP" pitchFamily="34" charset="0"/>
                <a:ea typeface="Noto Sans JP" pitchFamily="34" charset="-122"/>
                <a:cs typeface="Noto Sans JP" pitchFamily="34" charset="-120"/>
              </a:rPr>
              <a:t> システム理工学部志望者はグリーンエレクトロニクス工学科という新しい選択肢が増えた一方、電気電子情報工学科の定員減があるため、志望学科の実質倍率変動に注意が必要です。商学部志望者は新配点方式（3教科型同一配点方式）により、科目間の得意・不得意の凸凹を平準化したい受験生に新たな選択肢が生まれています。外国語学部志望者は共通テスト利用の選択科目一本化により出願戦略がシンプル化された可能性があります。文学部志望者（専修関心層）には、専修再編は入学後（2年次から）の話であり、一般選抜の出願区分には直接影響しない旨を正しく伝える必要があります（誤解されやすいポイントです）。</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2026-07-06T09:36:04Z</dcterms:created>
  <dcterms:modified xsi:type="dcterms:W3CDTF">2026-07-06T09:36:04Z</dcterms:modified>
</cp:coreProperties>
</file>